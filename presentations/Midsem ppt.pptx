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</c:v>
                </c:pt>
              </c:strCache>
            </c:strRef>
          </c:tx>
          <c:spPr>
            <a:solidFill>
              <a:srgbClr val="DB5B50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D7D7D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  <c:pt idx="4">
                  <c:v>ROC-AUC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0.65</c:v>
                </c:pt>
                <c:pt idx="1">
                  <c:v>1</c:v>
                </c:pt>
                <c:pt idx="2">
                  <c:v>0.28999999999999998</c:v>
                </c:pt>
                <c:pt idx="3">
                  <c:v>0.45</c:v>
                </c:pt>
                <c:pt idx="4">
                  <c:v>0.92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35-5345-AB28-8A88155A723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</c:v>
                </c:pt>
              </c:strCache>
            </c:strRef>
          </c:tx>
          <c:spPr>
            <a:solidFill>
              <a:srgbClr val="33C2A4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D7D7D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  <c:pt idx="4">
                  <c:v>ROC-AUC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0.89</c:v>
                </c:pt>
                <c:pt idx="1">
                  <c:v>0.99</c:v>
                </c:pt>
                <c:pt idx="2">
                  <c:v>0.79</c:v>
                </c:pt>
                <c:pt idx="3">
                  <c:v>0.88</c:v>
                </c:pt>
                <c:pt idx="4">
                  <c:v>0.96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C35-5345-AB28-8A88155A723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C9C9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100000000000000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0B0B0B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B0B0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</c:v>
                </c:pt>
              </c:strCache>
            </c:strRef>
          </c:tx>
          <c:spPr>
            <a:solidFill>
              <a:srgbClr val="DB5B50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D7D7D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FaceApp</c:v>
                </c:pt>
                <c:pt idx="1">
                  <c:v>PGGAN</c:v>
                </c:pt>
                <c:pt idx="2">
                  <c:v>StarGAN</c:v>
                </c:pt>
                <c:pt idx="3">
                  <c:v>StyleGAN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0.38</c:v>
                </c:pt>
                <c:pt idx="1">
                  <c:v>0.25</c:v>
                </c:pt>
                <c:pt idx="2">
                  <c:v>0.25</c:v>
                </c:pt>
                <c:pt idx="3">
                  <c:v>0.28999999999999998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DD-C849-9809-C4FF1092E4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</c:v>
                </c:pt>
              </c:strCache>
            </c:strRef>
          </c:tx>
          <c:spPr>
            <a:solidFill>
              <a:srgbClr val="33C2A4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D7D7D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FaceApp</c:v>
                </c:pt>
                <c:pt idx="1">
                  <c:v>PGGAN</c:v>
                </c:pt>
                <c:pt idx="2">
                  <c:v>StarGAN</c:v>
                </c:pt>
                <c:pt idx="3">
                  <c:v>StyleGAN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0.45</c:v>
                </c:pt>
                <c:pt idx="1">
                  <c:v>0.96</c:v>
                </c:pt>
                <c:pt idx="2">
                  <c:v>0.76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EDD-C849-9809-C4FF1092E49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C9C9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1499999999999999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0B0B0B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B0B0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5419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DEEPFAKE DETECTION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153912" y="274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School–I  ·  Project Report</a:t>
            </a:r>
            <a:endParaRPr lang="en-US" sz="1000" dirty="0"/>
          </a:p>
          <a:p>
            <a:pPr marL="0" indent="0" algn="r">
              <a:buNone/>
            </a:pPr>
            <a:r>
              <a:rPr lang="en-US" sz="100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0" b="1" kern="0" spc="-200" dirty="0">
                <a:solidFill>
                  <a:srgbClr val="D7D7D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DEEPFAKE</a:t>
            </a:r>
            <a:endParaRPr lang="en-US" sz="10400" dirty="0"/>
          </a:p>
        </p:txBody>
      </p:sp>
      <p:sp>
        <p:nvSpPr>
          <p:cNvPr id="5" name="Text 3"/>
          <p:cNvSpPr/>
          <p:nvPr/>
        </p:nvSpPr>
        <p:spPr>
          <a:xfrm>
            <a:off x="502920" y="278892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0" b="1" kern="0" spc="-200" dirty="0">
                <a:solidFill>
                  <a:srgbClr val="D7D7D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DETECTION</a:t>
            </a:r>
            <a:r>
              <a:rPr lang="en-US" sz="10400" b="1" kern="0" spc="-200" dirty="0">
                <a:solidFill>
                  <a:srgbClr val="33C2A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</a:t>
            </a:r>
            <a:endParaRPr lang="en-US" sz="10400" dirty="0"/>
          </a:p>
        </p:txBody>
      </p:sp>
      <p:sp>
        <p:nvSpPr>
          <p:cNvPr id="6" name="Text 4"/>
          <p:cNvSpPr/>
          <p:nvPr/>
        </p:nvSpPr>
        <p:spPr>
          <a:xfrm>
            <a:off x="566928" y="452628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GAN- and Diffusion-Based Framework for Robust Detection Across Image Modalities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5989320"/>
            <a:ext cx="11091672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126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Ayush Kumar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2024A7PS0560P  ·  B.E. Computer Science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120640" y="612648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 for Development of Advanced Computing (C-DAC)</a:t>
            </a:r>
            <a:endParaRPr lang="en-US" sz="1050" dirty="0"/>
          </a:p>
          <a:p>
            <a:pPr marL="0" indent="0" algn="r">
              <a:buNone/>
            </a:pPr>
            <a:r>
              <a:rPr lang="en-US" sz="95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CINE Centre, Guwahati, Assam  ·  Mentor: Mr. Kunal Chanda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DEEPFAKE DETECTION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153912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SCHOOL–I  ·  JUNE 2026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382512"/>
            <a:ext cx="11091672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Ayush Kumar  ·  2024A7PS0560P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66344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C-DAC CINE Centre, Guwahati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714232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Pilani  ·  PS-1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960120"/>
            <a:ext cx="10058400" cy="816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5000" b="1" kern="0" spc="-100" dirty="0">
                <a:solidFill>
                  <a:srgbClr val="D7D7D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TABLE OF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502920" y="1595120"/>
            <a:ext cx="10058400" cy="816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5000" b="1" kern="0" spc="-100" dirty="0">
                <a:solidFill>
                  <a:srgbClr val="D7D7D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CONTENTS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566928" y="27432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single-generator baseline to a cross-generator generalization study and a proposed multi-stream architecture.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55080" y="123444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33C2A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068312" y="120700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D7D7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55080" y="237744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33C2A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068312" y="235000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D7D7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55080" y="352044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33C2A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068312" y="349300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D7D7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55080" y="466344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33C2A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068312" y="463600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D7D7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&amp; Protocol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89720" y="123444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33C2A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902952" y="120700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D7D7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Framework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89720" y="237744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33C2A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902952" y="235000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D7D7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89720" y="352044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33C2A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902952" y="349300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D7D7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89720" y="466344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33C2A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902952" y="463600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D7D7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DEEPFAKE DETECTION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153912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SCHOOL–I  ·  JUNE 2026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382512"/>
            <a:ext cx="11091672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Ayush Kumar  ·  2024A7PS0560P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66344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C-DAC CINE Centre, Guwahati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714232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Pilani  ·  PS-1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960120"/>
            <a:ext cx="10058400" cy="816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5000" b="1" kern="0" spc="-100" dirty="0">
                <a:solidFill>
                  <a:srgbClr val="D7D7D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502920" y="1595120"/>
            <a:ext cx="10058400" cy="816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5000" b="1" kern="0" spc="-100" dirty="0">
                <a:solidFill>
                  <a:srgbClr val="D7D7D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566928" y="278892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Driven by GANs and diffusion models, synthetic faces have reached a point where humans can no longer reliably tell them from real photographs — fuelling misinformation, identity fraud and reputational harm.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43434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trends make detection genuinely hard: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0" y="1280160"/>
            <a:ext cx="5212080" cy="2057400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1508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3C2A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7498080" y="15727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7D7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Exploding generator diversity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22402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Entire-face synthesis (StyleGAN, PGGAN), attribute edits (StarGAN, FaceApp) and diffusion each leave different traces.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0" y="3611880"/>
            <a:ext cx="5212080" cy="2057400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3840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3C2A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7498080" y="39044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7D7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cross-generator transfer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75120" y="45720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Detectors trained on one generator silently miss fakes from another — high single-benchmark accuracy hides real-world fragility.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DEEPFAKE DETECTION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153912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SCHOOL–I  ·  JUNE 2026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382512"/>
            <a:ext cx="11091672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Ayush Kumar  ·  2024A7PS0560P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66344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C-DAC CINE Centre, Guwahati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714232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Pilani  ·  PS-1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960120"/>
            <a:ext cx="10058400" cy="816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5000" b="1" kern="0" spc="-100" dirty="0">
                <a:solidFill>
                  <a:srgbClr val="D7D7D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502920" y="1595120"/>
            <a:ext cx="10058400" cy="816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5000" b="1" kern="0" spc="-100" dirty="0">
                <a:solidFill>
                  <a:srgbClr val="D7D7D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OBJECTIVES</a:t>
            </a:r>
            <a:endParaRPr lang="en-US" sz="5000" dirty="0"/>
          </a:p>
        </p:txBody>
      </p:sp>
      <p:sp>
        <p:nvSpPr>
          <p:cNvPr id="10" name="Shape 8"/>
          <p:cNvSpPr/>
          <p:nvPr/>
        </p:nvSpPr>
        <p:spPr>
          <a:xfrm>
            <a:off x="6400800" y="1207008"/>
            <a:ext cx="5212080" cy="1078992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56832" y="1207008"/>
            <a:ext cx="868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C2A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543800" y="1316736"/>
            <a:ext cx="38404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D7D7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detection</a:t>
            </a:r>
            <a:endParaRPr lang="en-US" sz="14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 AI framework to detect deepfake and manipulated images from GAN- and diffusion-based generators.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0" y="2450592"/>
            <a:ext cx="5212080" cy="1078992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56832" y="2450592"/>
            <a:ext cx="868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C2A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43800" y="2560320"/>
            <a:ext cx="38404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D7D7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Multi-modal forensics</a:t>
            </a:r>
            <a:endParaRPr lang="en-US" sz="14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synthetic artifacts, inconsistencies and hidden manipulation traces across image modalities.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0" y="3694176"/>
            <a:ext cx="5212080" cy="1078992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56832" y="3694176"/>
            <a:ext cx="868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C2A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543800" y="3803904"/>
            <a:ext cx="38404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D7D7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architectures</a:t>
            </a:r>
            <a:endParaRPr lang="en-US" sz="14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 CNNs, Vision Transformers, GAN discriminators and diffusion-aware detection models.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00800" y="4937760"/>
            <a:ext cx="5212080" cy="1078992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56832" y="4937760"/>
            <a:ext cx="868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C2A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543800" y="5047488"/>
            <a:ext cx="38404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D7D7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Generalized resilience</a:t>
            </a:r>
            <a:endParaRPr lang="en-US" sz="14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robust against evolving generators, adversarial attacks, compression and post-processing.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66928" y="283464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of this report: a strong single-model baseline, a controlled cross-dataset generalization study, and a proposed multi-encoder architecture for future development.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DEEPFAKE DETECTION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153912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SCHOOL–I  ·  JUNE 2026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382512"/>
            <a:ext cx="11091672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Ayush Kumar  ·  2024A7PS0560P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66344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C-DAC CINE Centre, Guwahati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714232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Pilani  ·  PS-1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960120"/>
            <a:ext cx="10058400" cy="816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5000" b="1" kern="0" spc="-100" dirty="0">
                <a:solidFill>
                  <a:srgbClr val="D7D7D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502920" y="1595120"/>
            <a:ext cx="10058400" cy="816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5000" b="1" kern="0" spc="-100" dirty="0">
                <a:solidFill>
                  <a:srgbClr val="D7D7D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DATASETS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566928" y="27889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datasets isolate the single-generator vs. multi-generator regimes. All images resized to 224×224 and normalised.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0" y="1234440"/>
            <a:ext cx="2514600" cy="4617720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15270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33C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SINGLE-GENERATOR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75120" y="1801368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900" b="1" dirty="0">
                <a:solidFill>
                  <a:srgbClr val="D7D7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140k Real &amp; Fake Faces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675120" y="26517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FFHQ vs. StyleGAN fakes.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675120" y="3383280"/>
            <a:ext cx="196596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3520440"/>
            <a:ext cx="2011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70,000 real (FFHQ)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70,000 StyleGAN fakes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Pre-split train / val / test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source for baseline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098280" y="1234440"/>
            <a:ext cx="2514600" cy="4617720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72600" y="15270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33C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MULTI-GENERATOR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372600" y="1801368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900" b="1" dirty="0">
                <a:solidFill>
                  <a:srgbClr val="D7D7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Diverse Fake Face Dataset (DFFD)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9372600" y="26517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FFHQ + four fake types.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372600" y="3383280"/>
            <a:ext cx="196596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72600" y="3520440"/>
            <a:ext cx="2011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FaceApp (attribute edit)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StarGAN (attribute edit)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PGGAN (synthesis)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StyleGAN (synthesis)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DEEPFAKE DETECTION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153912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SCHOOL–I  ·  JUNE 2026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382512"/>
            <a:ext cx="11091672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Ayush Kumar  ·  2024A7PS0560P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66344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C-DAC CINE Centre, Guwahati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714232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Pilani  ·  PS-1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960120"/>
            <a:ext cx="10058400" cy="816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5000" b="1" kern="0" spc="-100" dirty="0">
                <a:solidFill>
                  <a:srgbClr val="D7D7D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BASELINE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502920" y="1595120"/>
            <a:ext cx="10058400" cy="816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5000" b="1" kern="0" spc="-100" dirty="0">
                <a:solidFill>
                  <a:srgbClr val="D7D7D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PROTOCOL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566928" y="278892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ViT-Base/16 (ImageNet pre-trained) is fine-tuned as a binary real/fake classifier, then stress-tested for cross-dataset transfer.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66928" y="39319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7D7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ViT-Base/16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" y="422452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5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Backbone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172968" y="39319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7D7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AdamW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72968" y="422452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5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66928" y="46451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7D7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Cross-entropy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6928" y="493776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5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172968" y="46451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7D7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/ 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172968" y="493776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5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/ Epochs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66928" y="535838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7D7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(AMP)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6928" y="565099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5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172968" y="535838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7D7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 T4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72968" y="565099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5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00800" y="12801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3C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CROSS-DATASET PROTOCOL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1691640"/>
            <a:ext cx="5212080" cy="868680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56832" y="1938528"/>
            <a:ext cx="384048" cy="384048"/>
          </a:xfrm>
          <a:prstGeom prst="ellipse">
            <a:avLst/>
          </a:prstGeom>
          <a:solidFill>
            <a:srgbClr val="33C2A4"/>
          </a:solidFill>
          <a:ln w="15875">
            <a:solidFill>
              <a:srgbClr val="33C2A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56832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269480" y="1819656"/>
            <a:ext cx="41148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D7D7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 fine-tuned on StyleGAN fakes only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711696" y="2478024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00800" y="2770632"/>
            <a:ext cx="5212080" cy="868680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56832" y="3017520"/>
            <a:ext cx="384048" cy="384048"/>
          </a:xfrm>
          <a:prstGeom prst="ellipse">
            <a:avLst/>
          </a:prstGeom>
          <a:solidFill>
            <a:srgbClr val="1D1D1D"/>
          </a:solidFill>
          <a:ln w="15875">
            <a:solidFill>
              <a:srgbClr val="33C2A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56832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C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269480" y="2898648"/>
            <a:ext cx="41148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D7D7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— BEFORE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as-is on DFFD (unseen fake types)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711696" y="3557016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400800" y="3849624"/>
            <a:ext cx="5212080" cy="868680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56832" y="4096512"/>
            <a:ext cx="384048" cy="384048"/>
          </a:xfrm>
          <a:prstGeom prst="ellipse">
            <a:avLst/>
          </a:prstGeom>
          <a:solidFill>
            <a:srgbClr val="33C2A4"/>
          </a:solidFill>
          <a:ln w="15875">
            <a:solidFill>
              <a:srgbClr val="33C2A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56832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269480" y="3977640"/>
            <a:ext cx="41148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D7D7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Re-train on balanced DFFD split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6711696" y="463600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400800" y="4928616"/>
            <a:ext cx="5212080" cy="868680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56832" y="5175504"/>
            <a:ext cx="384048" cy="384048"/>
          </a:xfrm>
          <a:prstGeom prst="ellipse">
            <a:avLst/>
          </a:prstGeom>
          <a:solidFill>
            <a:srgbClr val="1D1D1D"/>
          </a:solidFill>
          <a:ln w="15875">
            <a:solidFill>
              <a:srgbClr val="33C2A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56832" y="5175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C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269480" y="5056632"/>
            <a:ext cx="41148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D7D7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— AFTER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Re-evaluate on identical DFFD test set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DEEPFAKE DETECTION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153912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SCHOOL–I  ·  JUNE 2026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382512"/>
            <a:ext cx="11091672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Ayush Kumar  ·  2024A7PS0560P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66344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C-DAC CINE Centre, Guwahati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714232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Pilani  ·  PS-1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960120"/>
            <a:ext cx="10058400" cy="718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048"/>
              </a:lnSpc>
              <a:buNone/>
            </a:pPr>
            <a:r>
              <a:rPr lang="en-US" sz="4400" b="1" kern="0" spc="-100" dirty="0">
                <a:solidFill>
                  <a:srgbClr val="D7D7D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PROPOSED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02920" y="1518920"/>
            <a:ext cx="10058400" cy="718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048"/>
              </a:lnSpc>
              <a:buNone/>
            </a:pPr>
            <a:r>
              <a:rPr lang="en-US" sz="4400" b="1" kern="0" spc="-100" dirty="0">
                <a:solidFill>
                  <a:srgbClr val="D7D7D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FRAMEWORK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566928" y="24688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multi-encoder design fuses three complementary views by cross-attention — targeting the subtle, local cues a single RGB stream misses.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114800"/>
            <a:ext cx="1417320" cy="1188720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114800"/>
            <a:ext cx="1234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D7D7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224×224 face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057400" y="4709160"/>
            <a:ext cx="502920" cy="0"/>
          </a:xfrm>
          <a:prstGeom prst="line">
            <a:avLst/>
          </a:prstGeom>
          <a:noFill/>
          <a:ln w="22225">
            <a:solidFill>
              <a:srgbClr val="33C2A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606040" y="3657600"/>
            <a:ext cx="2148840" cy="640080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97480" y="36576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D7D7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 Encoder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 / DINO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606040" y="4389120"/>
            <a:ext cx="2148840" cy="640080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97480" y="43891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D7D7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 Enc.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spectral artifacts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606040" y="5120640"/>
            <a:ext cx="2148840" cy="640080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97480" y="51206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D7D7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Noise-Residual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/ compression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754880" y="3977640"/>
            <a:ext cx="411480" cy="0"/>
          </a:xfrm>
          <a:prstGeom prst="line">
            <a:avLst/>
          </a:prstGeom>
          <a:noFill/>
          <a:ln w="22225">
            <a:solidFill>
              <a:srgbClr val="33C2A4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754880" y="4709160"/>
            <a:ext cx="411480" cy="0"/>
          </a:xfrm>
          <a:prstGeom prst="line">
            <a:avLst/>
          </a:prstGeom>
          <a:noFill/>
          <a:ln w="22225">
            <a:solidFill>
              <a:srgbClr val="33C2A4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754880" y="5440680"/>
            <a:ext cx="411480" cy="0"/>
          </a:xfrm>
          <a:prstGeom prst="line">
            <a:avLst/>
          </a:prstGeom>
          <a:noFill/>
          <a:ln w="22225">
            <a:solidFill>
              <a:srgbClr val="33C2A4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212080" y="3840480"/>
            <a:ext cx="1828800" cy="1737360"/>
          </a:xfrm>
          <a:prstGeom prst="rect">
            <a:avLst/>
          </a:prstGeom>
          <a:solidFill>
            <a:srgbClr val="151515"/>
          </a:solidFill>
          <a:ln w="19050">
            <a:solidFill>
              <a:srgbClr val="33C2A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0" y="3840480"/>
            <a:ext cx="1645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D7D7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Cross-Attention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040880" y="4709160"/>
            <a:ext cx="411480" cy="0"/>
          </a:xfrm>
          <a:prstGeom prst="line">
            <a:avLst/>
          </a:prstGeom>
          <a:noFill/>
          <a:ln w="22225">
            <a:solidFill>
              <a:srgbClr val="33C2A4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498080" y="4069080"/>
            <a:ext cx="1874520" cy="1280160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0" y="406908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D7D7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Deepfake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372600" y="4709160"/>
            <a:ext cx="365760" cy="0"/>
          </a:xfrm>
          <a:prstGeom prst="line">
            <a:avLst/>
          </a:prstGeom>
          <a:noFill/>
          <a:ln w="22225">
            <a:solidFill>
              <a:srgbClr val="33C2A4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372600" y="4709160"/>
            <a:ext cx="365760" cy="640080"/>
          </a:xfrm>
          <a:prstGeom prst="line">
            <a:avLst/>
          </a:prstGeom>
          <a:noFill/>
          <a:ln w="22225">
            <a:solidFill>
              <a:srgbClr val="33C2A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738360" y="3657600"/>
            <a:ext cx="1828800" cy="777240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29800" y="36576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D7D7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/ Fake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9738360" y="4937760"/>
            <a:ext cx="1828800" cy="777240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29800" y="493776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D7D7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40080" y="5897880"/>
            <a:ext cx="10927080" cy="384048"/>
          </a:xfrm>
          <a:prstGeom prst="rect">
            <a:avLst/>
          </a:prstGeom>
          <a:solidFill>
            <a:srgbClr val="10211D"/>
          </a:solidFill>
          <a:ln w="12700">
            <a:solidFill>
              <a:srgbClr val="33C2A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5897880"/>
            <a:ext cx="10927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C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ROBUSTNESS LAYER  ·  continual learning across GAN + Diffusion + Compression + Unknown manipulations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DEEPFAKE DETECTION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153912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SCHOOL–I  ·  JUNE 2026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382512"/>
            <a:ext cx="11091672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Ayush Kumar  ·  2024A7PS0560P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66344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C-DAC CINE Centre, Guwahati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714232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Pilani  ·  PS-1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960120"/>
            <a:ext cx="10058400" cy="816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5000" b="1" kern="0" spc="-100" dirty="0">
                <a:solidFill>
                  <a:srgbClr val="D7D7D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IN-DOMAIN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502920" y="1595120"/>
            <a:ext cx="10058400" cy="816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5000" b="1" kern="0" spc="-100" dirty="0">
                <a:solidFill>
                  <a:srgbClr val="D7D7D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RESULTS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566928" y="278892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140k StyleGAN test set — the same fake distribution as training — the ViT baseline is near-perfect. Expected: it need only learn one generator's fingerprint.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44348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headline number is exactly the trap the rest of the study exposes.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1325880"/>
            <a:ext cx="2514600" cy="2103120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8288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D7D7D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99.62%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583680" y="27432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5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098280" y="1325880"/>
            <a:ext cx="2514600" cy="2103120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18288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D7D7D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99.63%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9281160" y="27432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5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score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0" y="3657600"/>
            <a:ext cx="2514600" cy="2103120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416052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D7D7D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99.84%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6583680" y="5074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5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098280" y="3657600"/>
            <a:ext cx="2514600" cy="2103120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16052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33C2A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1.000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9281160" y="5074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5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DEEPFAKE DETECTION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153912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SCHOOL–I  ·  JUNE 2026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382512"/>
            <a:ext cx="11091672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Ayush Kumar  ·  2024A7PS0560P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66344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C-DAC CINE Centre, Guwahati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714232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Pilani  ·  PS-1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960120"/>
            <a:ext cx="10058400" cy="816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5000" b="1" kern="0" spc="-100" dirty="0">
                <a:solidFill>
                  <a:srgbClr val="D7D7D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502920" y="1595120"/>
            <a:ext cx="10058400" cy="816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5000" b="1" kern="0" spc="-100" dirty="0">
                <a:solidFill>
                  <a:srgbClr val="D7D7D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GAP.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566928" y="2788920"/>
            <a:ext cx="5212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on DFFD — fake types it never saw — the baseline's recall collapses to 0.29: it waves most non-StyleGAN fakes through as real. Fine-tuning on diverse fakes recovers recall to 0.79.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45720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</a:t>
            </a:r>
            <a:r>
              <a:rPr lang="en-US" sz="120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 (StyleGAN-only)      </a:t>
            </a:r>
            <a:r>
              <a:rPr lang="en-US" sz="1300" dirty="0">
                <a:solidFill>
                  <a:srgbClr val="33C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</a:t>
            </a:r>
            <a:r>
              <a:rPr lang="en-US" sz="120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 (DFFD fine-tuned)</a:t>
            </a:r>
            <a:endParaRPr lang="en-US" sz="13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6126480" y="1280160"/>
          <a:ext cx="557784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DEEPFAKE DETECTION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153912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SCHOOL–I  ·  JUNE 2026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382512"/>
            <a:ext cx="11091672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Ayush Kumar  ·  2024A7PS0560P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66344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C-DAC CINE Centre, Guwahati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714232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Pilani  ·  PS-1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9601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864"/>
              </a:lnSpc>
              <a:buNone/>
            </a:pPr>
            <a:r>
              <a:rPr lang="en-US" sz="4200" b="1" kern="0" spc="-100" dirty="0">
                <a:solidFill>
                  <a:srgbClr val="D7D7D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PER-GENERATOR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02920" y="1493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864"/>
              </a:lnSpc>
              <a:buNone/>
            </a:pPr>
            <a:r>
              <a:rPr lang="en-US" sz="4200" b="1" kern="0" spc="-100" dirty="0">
                <a:solidFill>
                  <a:srgbClr val="D7D7D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ANALYSIS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66928" y="2331720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rate per fake type, before vs. after fine-tuning. Entire-synthesis fakes become almost perfectly detectable; FaceApp's subtle, localised attribute edits remain the hardest case.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4069080"/>
            <a:ext cx="5212080" cy="1783080"/>
          </a:xfrm>
          <a:prstGeom prst="rect">
            <a:avLst/>
          </a:prstGeom>
          <a:solidFill>
            <a:srgbClr val="10211D"/>
          </a:solidFill>
          <a:ln w="12700">
            <a:solidFill>
              <a:srgbClr val="33C2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297680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33C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FaceApp is the weak point.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edits change only part of a real face and leave the weakest global artifacts — directly motivating the frequency and noise-residual streams in the proposed framework.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</a:t>
            </a:r>
            <a:r>
              <a:rPr lang="en-US" sz="120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    </a:t>
            </a:r>
            <a:r>
              <a:rPr lang="en-US" sz="1300" dirty="0">
                <a:solidFill>
                  <a:srgbClr val="33C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</a:t>
            </a:r>
            <a:r>
              <a:rPr lang="en-US" sz="120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300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6126480" y="1554480"/>
          <a:ext cx="557784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DEEPFAKE DETECTION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153912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SCHOOL–I  ·  JUNE 2026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382512"/>
            <a:ext cx="11091672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Ayush Kumar  ·  2024A7PS0560P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66344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C-DAC CINE Centre, Guwahati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714232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Pilani  ·  PS-1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960120"/>
            <a:ext cx="10058400" cy="816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5000" b="1" kern="0" spc="-100" dirty="0">
                <a:solidFill>
                  <a:srgbClr val="D7D7D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502920" y="1595120"/>
            <a:ext cx="10058400" cy="816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5000" b="1" kern="0" spc="-100" dirty="0">
                <a:solidFill>
                  <a:srgbClr val="D7D7D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FINDINGS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566928" y="2743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controlled study establishes.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0" y="1234440"/>
            <a:ext cx="5212080" cy="1078992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56832" y="1234440"/>
            <a:ext cx="868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3C2A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543800" y="1325880"/>
            <a:ext cx="3840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D7D7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In-domain accuracy is misleading</a:t>
            </a:r>
            <a:endParaRPr lang="en-US" sz="13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detector can look near-perfect on one generator yet fail badly on unseen fake types.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0" y="2441448"/>
            <a:ext cx="5212080" cy="1078992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56832" y="2441448"/>
            <a:ext cx="868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3C2A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543800" y="2532888"/>
            <a:ext cx="3840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D7D7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danger is missed fakes</a:t>
            </a:r>
            <a:endParaRPr lang="en-US" sz="13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stays high while recall collapses — fakes pass silently as real, not false alarms.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0" y="3648456"/>
            <a:ext cx="5212080" cy="1078992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56832" y="3648456"/>
            <a:ext cx="868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3C2A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543800" y="3739896"/>
            <a:ext cx="3840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D7D7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Diverse training closes much of the gap</a:t>
            </a:r>
            <a:endParaRPr lang="en-US" sz="13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Exposure to varied generators lifts recall from 0.29 to 0.79; it is necessary, not optional.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0" y="4855464"/>
            <a:ext cx="5212080" cy="1078992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56832" y="4855464"/>
            <a:ext cx="868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3C2A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543800" y="4946904"/>
            <a:ext cx="3840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D7D7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RGB stream is not enough</a:t>
            </a:r>
            <a:endParaRPr lang="en-US" sz="13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weakness on attribute edits justifies a multi-modal, multi-encoder design.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DEEPFAKE DETECTION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153912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SCHOOL–I  ·  JUNE 2026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382512"/>
            <a:ext cx="11091672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Ayush Kumar  ·  2024A7PS0560P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66344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C-DAC CINE Centre, Guwahati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714232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Pilani  ·  PS-1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960120"/>
            <a:ext cx="10058400" cy="816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5000" b="1" kern="0" spc="-100" dirty="0">
                <a:solidFill>
                  <a:srgbClr val="D7D7D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502920" y="1595120"/>
            <a:ext cx="10058400" cy="816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5000" b="1" kern="0" spc="-100" dirty="0">
                <a:solidFill>
                  <a:srgbClr val="D7D7D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566928" y="278892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 build the proposed framework end-to-end and push toward a detector that keeps pace with new generators.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0" y="1207008"/>
            <a:ext cx="5212080" cy="676656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38544" y="1426464"/>
            <a:ext cx="237744" cy="237744"/>
          </a:xfrm>
          <a:prstGeom prst="ellipse">
            <a:avLst/>
          </a:prstGeom>
          <a:solidFill>
            <a:srgbClr val="33C2A4"/>
          </a:solidFill>
          <a:ln/>
        </p:spPr>
      </p:sp>
      <p:sp>
        <p:nvSpPr>
          <p:cNvPr id="13" name="Text 11"/>
          <p:cNvSpPr/>
          <p:nvPr/>
        </p:nvSpPr>
        <p:spPr>
          <a:xfrm>
            <a:off x="7086600" y="1207008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7D7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&amp; evaluate the multi-encoder framework end-to-end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0" y="2029968"/>
            <a:ext cx="5212080" cy="676656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38544" y="2249424"/>
            <a:ext cx="237744" cy="237744"/>
          </a:xfrm>
          <a:prstGeom prst="ellipse">
            <a:avLst/>
          </a:prstGeom>
          <a:solidFill>
            <a:srgbClr val="33C2A4"/>
          </a:solidFill>
          <a:ln/>
        </p:spPr>
      </p:sp>
      <p:sp>
        <p:nvSpPr>
          <p:cNvPr id="16" name="Text 14"/>
          <p:cNvSpPr/>
          <p:nvPr/>
        </p:nvSpPr>
        <p:spPr>
          <a:xfrm>
            <a:off x="7086600" y="2029968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7D7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coverage to diffusion-generated faces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0" y="2852928"/>
            <a:ext cx="5212080" cy="676656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38544" y="3072384"/>
            <a:ext cx="237744" cy="237744"/>
          </a:xfrm>
          <a:prstGeom prst="ellipse">
            <a:avLst/>
          </a:prstGeom>
          <a:solidFill>
            <a:srgbClr val="33C2A4"/>
          </a:solidFill>
          <a:ln/>
        </p:spPr>
      </p:sp>
      <p:sp>
        <p:nvSpPr>
          <p:cNvPr id="19" name="Text 17"/>
          <p:cNvSpPr/>
          <p:nvPr/>
        </p:nvSpPr>
        <p:spPr>
          <a:xfrm>
            <a:off x="7086600" y="2852928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7D7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video benchmarks (FaceForensics++, Celeb-DF) via frame extraction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0" y="3675888"/>
            <a:ext cx="5212080" cy="676656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38544" y="3895344"/>
            <a:ext cx="237744" cy="237744"/>
          </a:xfrm>
          <a:prstGeom prst="ellipse">
            <a:avLst/>
          </a:prstGeom>
          <a:solidFill>
            <a:srgbClr val="33C2A4"/>
          </a:solidFill>
          <a:ln/>
        </p:spPr>
      </p:sp>
      <p:sp>
        <p:nvSpPr>
          <p:cNvPr id="22" name="Text 20"/>
          <p:cNvSpPr/>
          <p:nvPr/>
        </p:nvSpPr>
        <p:spPr>
          <a:xfrm>
            <a:off x="7086600" y="3675888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7D7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Stress-test robustness under compression, blur and resizing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0" y="4498848"/>
            <a:ext cx="5212080" cy="676656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38544" y="4718304"/>
            <a:ext cx="237744" cy="237744"/>
          </a:xfrm>
          <a:prstGeom prst="ellipse">
            <a:avLst/>
          </a:prstGeom>
          <a:solidFill>
            <a:srgbClr val="33C2A4"/>
          </a:solidFill>
          <a:ln/>
        </p:spPr>
      </p:sp>
      <p:sp>
        <p:nvSpPr>
          <p:cNvPr id="25" name="Text 23"/>
          <p:cNvSpPr/>
          <p:nvPr/>
        </p:nvSpPr>
        <p:spPr>
          <a:xfrm>
            <a:off x="7086600" y="4498848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7D7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a continual-learning strategy for emerging generators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0" y="5321808"/>
            <a:ext cx="5212080" cy="676656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38544" y="5541264"/>
            <a:ext cx="237744" cy="237744"/>
          </a:xfrm>
          <a:prstGeom prst="ellipse">
            <a:avLst/>
          </a:prstGeom>
          <a:solidFill>
            <a:srgbClr val="33C2A4"/>
          </a:solidFill>
          <a:ln/>
        </p:spPr>
      </p:sp>
      <p:sp>
        <p:nvSpPr>
          <p:cNvPr id="28" name="Text 26"/>
          <p:cNvSpPr/>
          <p:nvPr/>
        </p:nvSpPr>
        <p:spPr>
          <a:xfrm>
            <a:off x="7086600" y="5321808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7D7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explainability maps into a verification dashboard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DEEPFAKE DETECTION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153912" y="274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School–I  ·  C-DAC CINE Centre</a:t>
            </a:r>
            <a:endParaRPr lang="en-US" sz="1000" dirty="0"/>
          </a:p>
          <a:p>
            <a:pPr marL="0" indent="0" algn="r">
              <a:buNone/>
            </a:pPr>
            <a:r>
              <a:rPr lang="en-US" sz="100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64592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kern="0" spc="-200" dirty="0">
                <a:solidFill>
                  <a:srgbClr val="D7D7D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502920" y="320040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kern="0" spc="-200" dirty="0">
                <a:solidFill>
                  <a:srgbClr val="D7D7D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</a:t>
            </a:r>
            <a:r>
              <a:rPr lang="en-US" sz="12000" b="1" kern="0" spc="-200" dirty="0">
                <a:solidFill>
                  <a:srgbClr val="33C2A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</a:t>
            </a:r>
            <a:endParaRPr lang="en-US" sz="12000" dirty="0"/>
          </a:p>
        </p:txBody>
      </p:sp>
      <p:sp>
        <p:nvSpPr>
          <p:cNvPr id="6" name="Shape 4"/>
          <p:cNvSpPr/>
          <p:nvPr/>
        </p:nvSpPr>
        <p:spPr>
          <a:xfrm>
            <a:off x="548640" y="5852160"/>
            <a:ext cx="11091672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035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Ayush Kumar  ·  2024A7PS0560P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B.E. Computer Science, BITS Pilani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0" y="6035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Mentor: Mr. Kunal Chanda, Scientist, C-DAC</a:t>
            </a:r>
            <a:endParaRPr lang="en-US" sz="1100" dirty="0"/>
          </a:p>
          <a:p>
            <a:pPr marL="0" indent="0" algn="r">
              <a:buNone/>
            </a:pPr>
            <a:r>
              <a:rPr lang="en-US" sz="100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Faculty: Jayaprakash Sharma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1159</Words>
  <Application>Microsoft Macintosh PowerPoint</Application>
  <PresentationFormat>Widescreen</PresentationFormat>
  <Paragraphs>245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GAN and Diffusion Based Framework for Robust Deepfake Detection</dc:title>
  <dc:subject>PptxGenJS Presentation</dc:subject>
  <dc:creator>Ayush Kumar</dc:creator>
  <cp:lastModifiedBy>AYUSH KUMAR</cp:lastModifiedBy>
  <cp:revision>2</cp:revision>
  <dcterms:created xsi:type="dcterms:W3CDTF">2026-06-24T11:33:34Z</dcterms:created>
  <dcterms:modified xsi:type="dcterms:W3CDTF">2026-06-24T11:48:02Z</dcterms:modified>
</cp:coreProperties>
</file>